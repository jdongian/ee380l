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6" r:id="rId17"/>
    <p:sldId id="277" r:id="rId18"/>
    <p:sldId id="271" r:id="rId19"/>
    <p:sldId id="272" r:id="rId20"/>
    <p:sldId id="273" r:id="rId21"/>
    <p:sldId id="274" r:id="rId22"/>
    <p:sldId id="275" r:id="rId23"/>
    <p:sldId id="278" r:id="rId24"/>
    <p:sldId id="279" r:id="rId25"/>
    <p:sldId id="280" r:id="rId26"/>
    <p:sldId id="282" r:id="rId27"/>
    <p:sldId id="281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3" r:id="rId37"/>
    <p:sldId id="291" r:id="rId38"/>
    <p:sldId id="292" r:id="rId39"/>
    <p:sldId id="294" r:id="rId4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107" d="100"/>
          <a:sy n="107" d="100"/>
        </p:scale>
        <p:origin x="76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09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09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409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221EE59-F5BF-446C-97CF-CA2B2CF4DF2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AA88C9-477F-4F59-8C46-4B4012671894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6D8575-F094-4C58-BF8A-0E094CDFD04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3975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115857-754F-4F88-BDAF-3BBDF49DA3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9005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106889-67F0-478C-AEEA-FF0A973461C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1159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64C556-8D30-4C8C-88F9-760BDAFC840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9432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FD0D4F-6229-4B6C-A238-970931DF7DD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503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2B4AB2-102E-4485-8B23-20B91BFBC5D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2906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00724D-EE56-4067-9054-7C02E981CC7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7733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A89BC1-1331-4A50-8BC8-32265666712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8566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198314-E972-44DD-A448-24734FA8C6E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2808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C78550-4DD4-4E12-A8BE-1134E793888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8522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8663C4-5BA7-40BD-8591-17D4284A06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7799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fld id="{667B68CD-132C-4FEC-9FDF-E0B888EE1E1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anchor="ctr"/>
          <a:lstStyle/>
          <a:p>
            <a:r>
              <a:rPr lang="en-US" altLang="en-US" sz="4400"/>
              <a:t>Classes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US" altLang="en-US" sz="3200" dirty="0" smtClean="0"/>
              <a:t>And an intro to </a:t>
            </a:r>
            <a:r>
              <a:rPr lang="en-US" altLang="en-US" sz="3200" dirty="0" smtClean="0"/>
              <a:t>inheritance</a:t>
            </a:r>
            <a:endParaRPr lang="en-US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Structs (AKA records)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/>
              <a:t>Many programming languages support user-defined types that are aggregations of other objects.</a:t>
            </a:r>
          </a:p>
          <a:p>
            <a:pPr lvl="1"/>
            <a:r>
              <a:rPr lang="en-US" altLang="en-US" sz="2400"/>
              <a:t>supported in C with the struct construct</a:t>
            </a:r>
          </a:p>
          <a:p>
            <a:pPr lvl="1"/>
            <a:r>
              <a:rPr lang="en-US" altLang="en-US" sz="2400"/>
              <a:t>supported in C++ with the class construct</a:t>
            </a:r>
          </a:p>
          <a:p>
            <a:r>
              <a:rPr lang="en-US" altLang="en-US" sz="2800"/>
              <a:t>The aggregation allows several variables to be treated as a unit</a:t>
            </a:r>
          </a:p>
          <a:p>
            <a:pPr lvl="1"/>
            <a:r>
              <a:rPr lang="en-US" altLang="en-US" sz="2400"/>
              <a:t>allocated together</a:t>
            </a:r>
          </a:p>
          <a:p>
            <a:pPr lvl="1"/>
            <a:r>
              <a:rPr lang="en-US" altLang="en-US" sz="2400"/>
              <a:t>passed as parameters/return values together.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Implementation of Structs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/>
              <a:t>Compiler determines a size of the aggregate object.</a:t>
            </a:r>
          </a:p>
          <a:p>
            <a:pPr lvl="1"/>
            <a:r>
              <a:rPr lang="en-US" altLang="en-US" sz="2400"/>
              <a:t>size of the field </a:t>
            </a:r>
          </a:p>
          <a:p>
            <a:pPr lvl="1"/>
            <a:r>
              <a:rPr lang="en-US" altLang="en-US" sz="2400"/>
              <a:t>some adjustments for address alignment</a:t>
            </a:r>
          </a:p>
          <a:p>
            <a:r>
              <a:rPr lang="en-US" altLang="en-US" sz="2800"/>
              <a:t>Compiler determines an offset for each field.</a:t>
            </a:r>
          </a:p>
          <a:p>
            <a:r>
              <a:rPr lang="en-US" altLang="en-US" sz="2800"/>
              <a:t>The . operator is implemented simply by adding the offset of the named field to the address of the aggregate.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Type Rules in C++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/>
              <a:t>Structs in C++ are legitimate types and can be use exactly like any basetypes.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can be parameters, global/local variables or return types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can be fields in other structs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derived types (pointer reference) can be based on structs.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Struct assignment is permitted in C++.  The default behavior is to use the default assignment/copy rules for each individual field.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Strong/static type checking is used.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 altLang="en-US"/>
              <a:t>Member Functions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495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/>
              <a:t>The next step up on the evolutionary ladder above structs is ADTs.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An Abstract Data Type is a software module consisting of a struct (data layout) plus a set of functions for operating on that struct.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These functions (obviously) require that one of their parameters be a pointer or reference to the struct that they are to manipulate.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Member functions support ADTs by: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merging the source code for the data layout and function declarations.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passing the struct pointer implicitly to “member functions”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C++ and this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/>
              <a:t>The “this” pointer is a parameter.  For a member function in class T, the 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declared “</a:t>
            </a:r>
            <a:r>
              <a:rPr lang="en-US" altLang="en-US" sz="2400">
                <a:latin typeface="Courier New" panose="02070309020205020404" pitchFamily="49" charset="0"/>
              </a:rPr>
              <a:t>T* const this</a:t>
            </a:r>
            <a:r>
              <a:rPr lang="en-US" altLang="en-US" sz="2400"/>
              <a:t>”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The this pointer is passed implicitly (does not appear in the parameter list).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The implicit this pointer is the only implementation difference between a member function and a regular function!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The only other differences relate to type-checking rules (scoping and access control).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Pop Quiz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int x = 0;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class A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void doit(void) { x += 1; doit(); 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}; // no data members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class B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double a,b,c; // 24 bytes of data members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void doit(void) { x += 1; doit(); 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};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Does either function run indefinitely?  Which program runs longer (increments x more times) before crashing? A::doit() or B::doit()?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Inheritance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876800"/>
          </a:xfrm>
        </p:spPr>
        <p:txBody>
          <a:bodyPr/>
          <a:lstStyle/>
          <a:p>
            <a:pPr marL="609600" indent="-609600"/>
            <a:r>
              <a:rPr lang="en-US" altLang="en-US"/>
              <a:t>The terminology of object-oriented programming is somewhat ambiguous (at least in conventional usage).</a:t>
            </a:r>
          </a:p>
          <a:p>
            <a:pPr marL="990600" lvl="1" indent="-533400"/>
            <a:r>
              <a:rPr lang="en-US" altLang="en-US"/>
              <a:t>The C++ inheritance mechanism does at least two very distinct things.</a:t>
            </a:r>
          </a:p>
          <a:p>
            <a:pPr marL="1371600" lvl="2" indent="-457200">
              <a:buFontTx/>
              <a:buAutoNum type="arabicPeriod"/>
            </a:pPr>
            <a:r>
              <a:rPr lang="en-US" altLang="en-US"/>
              <a:t>Allows a new type to be defined as an extension of an existing type.</a:t>
            </a:r>
          </a:p>
          <a:p>
            <a:pPr marL="1371600" lvl="2" indent="-457200">
              <a:buFontTx/>
              <a:buAutoNum type="arabicPeriod"/>
            </a:pPr>
            <a:r>
              <a:rPr lang="en-US" altLang="en-US"/>
              <a:t>Creates a subtype/supertype relationship.</a:t>
            </a:r>
          </a:p>
          <a:p>
            <a:pPr marL="609600" indent="-609600"/>
            <a:r>
              <a:rPr lang="en-US" altLang="en-US"/>
              <a:t>I’ll refer to #1 as “inheritance” and as #2 as subtyping.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Inheritance for Reuse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Remember that the goal for object-oriented programming was to achieve greater/more flexible code reuse.</a:t>
            </a:r>
          </a:p>
          <a:p>
            <a:r>
              <a:rPr lang="en-US" altLang="en-US"/>
              <a:t>Imagine we have a class that provides some useful function, but that we wish to improve, e.g., adding range checking to the standard vector container.</a:t>
            </a:r>
            <a:br>
              <a:rPr lang="en-US" altLang="en-US"/>
            </a:b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Defining an Inheritance Relationship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class Derived : public Base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// changes from Base class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};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Public inheritance makes all of Base’s public members available to users of Derived (public in base becomes public in Derived).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The body of Derived describes changes from Base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Except as explicitly changed, all of Base is “inherited” into Derived.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Restrictions and caveats on Inheritance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495800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1027113" algn="l"/>
              </a:tabLst>
            </a:pPr>
            <a:r>
              <a:rPr lang="en-US" altLang="en-US" sz="2800" strike="sngStrike" dirty="0"/>
              <a:t>Constructors cannot be inherited.  </a:t>
            </a:r>
            <a:r>
              <a:rPr lang="en-US" altLang="en-US" sz="2800" dirty="0"/>
              <a:t>Must use ugly syntax for constructors.</a:t>
            </a:r>
          </a:p>
          <a:p>
            <a:pPr>
              <a:lnSpc>
                <a:spcPct val="90000"/>
              </a:lnSpc>
              <a:buFontTx/>
              <a:buNone/>
              <a:tabLst>
                <a:tab pos="1027113" algn="l"/>
              </a:tabLst>
            </a:pPr>
            <a:r>
              <a:rPr lang="en-US" altLang="en-US" sz="2000" dirty="0">
                <a:latin typeface="Courier New" panose="02070309020205020404" pitchFamily="49" charset="0"/>
              </a:rPr>
              <a:t>Derived::Derived(</a:t>
            </a:r>
            <a:r>
              <a:rPr lang="en-US" altLang="en-US" sz="2000" dirty="0" err="1">
                <a:latin typeface="Courier New" panose="02070309020205020404" pitchFamily="49" charset="0"/>
              </a:rPr>
              <a:t>derived_args</a:t>
            </a:r>
            <a:r>
              <a:rPr lang="en-US" altLang="en-US" sz="2000" dirty="0"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  <a:buFontTx/>
              <a:buNone/>
              <a:tabLst>
                <a:tab pos="1027113" algn="l"/>
              </a:tabLst>
            </a:pPr>
            <a:r>
              <a:rPr lang="en-US" altLang="en-US" sz="2000" dirty="0">
                <a:latin typeface="Courier New" panose="02070309020205020404" pitchFamily="49" charset="0"/>
              </a:rPr>
              <a:t>  : Base(</a:t>
            </a:r>
            <a:r>
              <a:rPr lang="en-US" altLang="en-US" sz="2000" dirty="0" err="1">
                <a:latin typeface="Courier New" panose="02070309020205020404" pitchFamily="49" charset="0"/>
              </a:rPr>
              <a:t>base_args</a:t>
            </a:r>
            <a:r>
              <a:rPr lang="en-US" altLang="en-US" sz="2000" dirty="0">
                <a:latin typeface="Courier New" panose="02070309020205020404" pitchFamily="49" charset="0"/>
              </a:rPr>
              <a:t>) { … </a:t>
            </a:r>
            <a:r>
              <a:rPr lang="en-US" altLang="en-US" sz="2000" dirty="0" smtClean="0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  <a:tabLst>
                <a:tab pos="1027113" algn="l"/>
              </a:tabLst>
            </a:pPr>
            <a:r>
              <a:rPr lang="en-US" altLang="en-US" sz="2000" dirty="0" smtClean="0">
                <a:latin typeface="Courier New" panose="02070309020205020404" pitchFamily="49" charset="0"/>
              </a:rPr>
              <a:t>using Base::Base;</a:t>
            </a:r>
            <a:endParaRPr lang="en-US" altLang="en-US" sz="2000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tabLst>
                <a:tab pos="1027113" algn="l"/>
              </a:tabLst>
            </a:pPr>
            <a:r>
              <a:rPr lang="en-US" altLang="en-US" sz="2400" dirty="0"/>
              <a:t>Assignment operator (and other operators) are inherited.  Can lead to some confusion with return types.  More on this in later examples.</a:t>
            </a:r>
          </a:p>
          <a:p>
            <a:pPr>
              <a:lnSpc>
                <a:spcPct val="90000"/>
              </a:lnSpc>
              <a:tabLst>
                <a:tab pos="1027113" algn="l"/>
              </a:tabLst>
            </a:pPr>
            <a:r>
              <a:rPr lang="en-US" altLang="en-US" sz="2400" dirty="0"/>
              <a:t>Destructor is not </a:t>
            </a:r>
            <a:r>
              <a:rPr lang="en-US" altLang="en-US" sz="2400" dirty="0" smtClean="0"/>
              <a:t>inherited (although it might as well be)</a:t>
            </a:r>
            <a:endParaRPr lang="en-US" altLang="en-US" sz="2400" dirty="0"/>
          </a:p>
          <a:p>
            <a:pPr>
              <a:lnSpc>
                <a:spcPct val="90000"/>
              </a:lnSpc>
              <a:tabLst>
                <a:tab pos="1027113" algn="l"/>
              </a:tabLst>
            </a:pPr>
            <a:r>
              <a:rPr lang="en-US" altLang="en-US" sz="2400" dirty="0"/>
              <a:t>Base constructor is invoked FIRST, base destructor is invoked LAST.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Checked Vector Example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305800" cy="44196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template &lt;</a:t>
            </a:r>
            <a:r>
              <a:rPr lang="en-US" altLang="en-US" sz="2000" dirty="0" err="1">
                <a:latin typeface="Courier New" panose="02070309020205020404" pitchFamily="49" charset="0"/>
              </a:rPr>
              <a:t>typename</a:t>
            </a:r>
            <a:r>
              <a:rPr lang="en-US" altLang="en-US" sz="2000" dirty="0">
                <a:latin typeface="Courier New" panose="02070309020205020404" pitchFamily="49" charset="0"/>
              </a:rPr>
              <a:t> T&gt;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class </a:t>
            </a:r>
            <a:r>
              <a:rPr lang="en-US" altLang="en-US" sz="2000" dirty="0" err="1">
                <a:latin typeface="Courier New" panose="02070309020205020404" pitchFamily="49" charset="0"/>
              </a:rPr>
              <a:t>CheckedVector</a:t>
            </a:r>
            <a:r>
              <a:rPr lang="en-US" altLang="en-US" sz="2000" dirty="0">
                <a:latin typeface="Courier New" panose="02070309020205020404" pitchFamily="49" charset="0"/>
              </a:rPr>
              <a:t> : public vector&lt;T&gt;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public: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</a:t>
            </a:r>
            <a:r>
              <a:rPr lang="en-US" altLang="en-US" sz="2000" dirty="0" smtClean="0">
                <a:latin typeface="Courier New" panose="02070309020205020404" pitchFamily="49" charset="0"/>
              </a:rPr>
              <a:t>using vector&lt;T&gt;::vector;</a:t>
            </a:r>
            <a:endParaRPr lang="en-US" altLang="en-US" sz="2000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</a:t>
            </a:r>
            <a:r>
              <a:rPr lang="en-US" altLang="en-US" sz="2000" dirty="0" err="1">
                <a:latin typeface="Courier New" panose="02070309020205020404" pitchFamily="49" charset="0"/>
              </a:rPr>
              <a:t>CheckedVector</a:t>
            </a:r>
            <a:r>
              <a:rPr lang="en-US" altLang="en-US" sz="2000" dirty="0">
                <a:latin typeface="Courier New" panose="02070309020205020404" pitchFamily="49" charset="0"/>
              </a:rPr>
              <a:t>&amp; operator=(</a:t>
            </a:r>
            <a:r>
              <a:rPr lang="en-US" altLang="en-US" sz="2000" dirty="0" err="1">
                <a:latin typeface="Courier New" panose="02070309020205020404" pitchFamily="49" charset="0"/>
              </a:rPr>
              <a:t>const</a:t>
            </a:r>
            <a:r>
              <a:rPr lang="en-US" altLang="en-US" sz="2000" dirty="0">
                <a:latin typeface="Courier New" panose="02070309020205020404" pitchFamily="49" charset="0"/>
              </a:rPr>
              <a:t> </a:t>
            </a:r>
            <a:r>
              <a:rPr lang="en-US" altLang="en-US" sz="2000" dirty="0" err="1">
                <a:latin typeface="Courier New" panose="02070309020205020404" pitchFamily="49" charset="0"/>
              </a:rPr>
              <a:t>CheckedVector</a:t>
            </a:r>
            <a:r>
              <a:rPr lang="en-US" altLang="en-US" sz="2000" dirty="0">
                <a:latin typeface="Courier New" panose="02070309020205020404" pitchFamily="49" charset="0"/>
              </a:rPr>
              <a:t>&lt;T&gt;&amp; other)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 (void) vector&lt;T&gt;::operator=(other);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 return *this;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};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Note the syntax to call the operator= function from the base class.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Specifying Changes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 dirty="0"/>
              <a:t>For our checked vector we want to inherit almost all of the functionality from vector.  operator[] is about the only thing that should change.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 T&amp; operator[](unsigned k)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    if (k &gt;= size()) { throw </a:t>
            </a:r>
            <a:r>
              <a:rPr lang="en-US" altLang="en-US" sz="1800" dirty="0" err="1">
                <a:latin typeface="Courier New" panose="02070309020205020404" pitchFamily="49" charset="0"/>
              </a:rPr>
              <a:t>out_of_range</a:t>
            </a:r>
            <a:r>
              <a:rPr lang="en-US" altLang="en-US" sz="1800" dirty="0">
                <a:latin typeface="Courier New" panose="02070309020205020404" pitchFamily="49" charset="0"/>
              </a:rPr>
              <a:t>(); 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    return vector&lt;T&gt;::operator[](k);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  }</a:t>
            </a:r>
            <a:r>
              <a:rPr lang="en-US" altLang="en-US" sz="2800" dirty="0"/>
              <a:t> </a:t>
            </a:r>
          </a:p>
          <a:p>
            <a:pPr>
              <a:spcBef>
                <a:spcPct val="0"/>
              </a:spcBef>
            </a:pPr>
            <a:r>
              <a:rPr lang="en-US" altLang="en-US" sz="2800" dirty="0"/>
              <a:t>We need to watch out!  Changes are based on the NAME of the method, not the </a:t>
            </a:r>
            <a:r>
              <a:rPr lang="en-US" altLang="en-US" sz="2800" dirty="0" smtClean="0"/>
              <a:t>signature (and this differs from Java)</a:t>
            </a:r>
            <a:endParaRPr lang="en-US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Implementing Inheritance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The compiler has two responsibilities with inheritance.</a:t>
            </a:r>
          </a:p>
          <a:p>
            <a:pPr lvl="1"/>
            <a:r>
              <a:rPr lang="en-US" altLang="en-US"/>
              <a:t>Extend the struct by adding any new fields (note, it is not possible to remove or eliminate old fields)</a:t>
            </a:r>
          </a:p>
          <a:p>
            <a:pPr lvl="1"/>
            <a:r>
              <a:rPr lang="en-US" altLang="en-US"/>
              <a:t>Support inheritance by allowing the old methods to be invoked on the new object WITHOUT RECOMPILATION.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Extending the Struct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/>
              <a:t>With single inheritance, this support is fairly simple.  All of the new fields are appended to the end of the old object.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We will talk about this in terms of “A Derived object has a Base inside it”.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To invoke a Base function, nothing special is required, just pass “this” as we normally would (with single inheritance).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All the original fields are accessed using their original offsets!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Implied Subtype Relationship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This simple implementation trick means that a Derived object can be used any place that a Base object was expected (their this pointers are the same).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C++ provides a subtype (the “</a:t>
            </a:r>
            <a:r>
              <a:rPr lang="en-US" altLang="en-US" sz="2800" dirty="0" err="1"/>
              <a:t>isa</a:t>
            </a:r>
            <a:r>
              <a:rPr lang="en-US" altLang="en-US" sz="2800" dirty="0"/>
              <a:t>”) relationship “a Derived </a:t>
            </a:r>
            <a:r>
              <a:rPr lang="en-US" altLang="en-US" sz="2800" i="1" dirty="0"/>
              <a:t>is a</a:t>
            </a:r>
            <a:r>
              <a:rPr lang="en-US" altLang="en-US" sz="2800" dirty="0"/>
              <a:t> Base”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Note the reverse relationship would not hold (all base objects may not be derived).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During type checking, a subtype (derived) can be used whenever a </a:t>
            </a:r>
            <a:r>
              <a:rPr lang="en-US" altLang="en-US" sz="2800" dirty="0" err="1"/>
              <a:t>supertype</a:t>
            </a:r>
            <a:r>
              <a:rPr lang="en-US" altLang="en-US" sz="2800" dirty="0"/>
              <a:t> is expected (even on the right hand side of an equals!)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Truncating objects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572000"/>
          </a:xfrm>
        </p:spPr>
        <p:txBody>
          <a:bodyPr/>
          <a:lstStyle/>
          <a:p>
            <a:r>
              <a:rPr lang="en-US" altLang="en-US"/>
              <a:t>The last bullet on the previous slide had a very important point.  A base object can be assigned (copied) from a derived object.</a:t>
            </a:r>
          </a:p>
          <a:p>
            <a:pPr lvl="1"/>
            <a:r>
              <a:rPr lang="en-US" altLang="en-US"/>
              <a:t>However, the newly created object will only have the “base part” of the original object.</a:t>
            </a:r>
          </a:p>
          <a:p>
            <a:pPr lvl="1"/>
            <a:r>
              <a:rPr lang="en-US" altLang="en-US"/>
              <a:t>Any additional fields will NOT be copied.</a:t>
            </a:r>
          </a:p>
          <a:p>
            <a:r>
              <a:rPr lang="en-US" altLang="en-US"/>
              <a:t>Pass by value parameters are a common place to run into this problem (we’ll see this again later).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Multiple Inheritance (yuck)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There are two distinct problems with multiple inheritance.  </a:t>
            </a:r>
          </a:p>
          <a:p>
            <a:pPr lvl="1"/>
            <a:r>
              <a:rPr lang="en-US" altLang="en-US" dirty="0"/>
              <a:t>A potential ambiguity arises as a natural result of inheriting members from two (or more) base classes.</a:t>
            </a:r>
          </a:p>
          <a:p>
            <a:pPr lvl="1"/>
            <a:r>
              <a:rPr lang="en-US" altLang="en-US" dirty="0"/>
              <a:t>The C++ compilation technique does not elegantly </a:t>
            </a:r>
            <a:r>
              <a:rPr lang="en-US" altLang="en-US" dirty="0" smtClean="0"/>
              <a:t>implement multiple </a:t>
            </a:r>
            <a:r>
              <a:rPr lang="en-US" altLang="en-US" dirty="0"/>
              <a:t>inheritance (like it does for single inheritance</a:t>
            </a:r>
            <a:r>
              <a:rPr lang="en-US" altLang="en-US" dirty="0" smtClean="0"/>
              <a:t>), compilers become more complex (and code </a:t>
            </a:r>
            <a:r>
              <a:rPr lang="en-US" altLang="en-US" smtClean="0"/>
              <a:t>less efficient)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Ambiguities with Multiple Inheritance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class Base1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void doit(void) { cout &lt;&lt; “I’m number 1\n”;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};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class Base2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void doit(void) { cout &lt;&lt; “nope, number 2\n”;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};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class Derived : public Base1, Base2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};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Derived d;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d.doit(); // what happens?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Programmer must explicitly state which doit is to be used.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d.Base1::doit(); d.Base2::doit();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More Ambiguities and Virtual Inheritance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class Counter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public: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static int x;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Counter(void) { x += 1;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};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int Counter::x = 0;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class B1 : public Counter {};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class B2 : public Counter {};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class D : public B1, B2 {};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D d; // how many times is x incremented?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2400"/>
              <a:t>Every D object has two Counters! (x == 2).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2400"/>
              <a:t>Instead, use virtual inheritance: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class B1 : public virtual Counter {};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class B2 : public virtual Counter {};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Implementation Nightmares,</a:t>
            </a:r>
            <a:br>
              <a:rPr lang="en-US" altLang="en-US"/>
            </a:br>
            <a:r>
              <a:rPr lang="en-US" altLang="en-US"/>
              <a:t>Fudging this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/>
              <a:t>Besides the potential for confusion, multiple inheritance greatly complicates the C++ implementation.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Let’s assume we have two base classes B1 and B2 in derived class D.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B1’s inherited fields will come first in object D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B2’s inherited fields will come second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D’s new fields will be third.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If we invoke an inherited B1 method on D, the “this” pointers are the same.  BUT if we invoke an inherited B2 method, we need to change this!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Implementation Pop Quiz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/>
              <a:t>Explain what it would take to implement a pointer to a member function?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First, we must accept that pointers to member functions must be kept distinct from pointers to functions.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The implicit parameter must be passed to member functions.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Next we need to consider the possibility that the pointer to the function could point to an inherited function.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in the case of multiple inheritance, we might have to fudge this to call that function!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Other Inheritance Stuff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nested types are inherited</a:t>
            </a:r>
          </a:p>
          <a:p>
            <a:pPr lvl="1"/>
            <a:r>
              <a:rPr lang="en-US" altLang="en-US"/>
              <a:t>CheckedVector inherits vector&lt;T&gt;::iterator</a:t>
            </a:r>
          </a:p>
          <a:p>
            <a:pPr lvl="1"/>
            <a:r>
              <a:rPr lang="en-US" altLang="en-US"/>
              <a:t>can be overridden.</a:t>
            </a:r>
          </a:p>
          <a:p>
            <a:r>
              <a:rPr lang="en-US" altLang="en-US"/>
              <a:t>A base class can be an instantiation of a template (duh, we’ve done this already).</a:t>
            </a:r>
          </a:p>
          <a:p>
            <a:pPr>
              <a:buFontTx/>
              <a:buNone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Putting Inheritance to good use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The iterator base classes</a:t>
            </a:r>
          </a:p>
          <a:p>
            <a:pPr lvl="1"/>
            <a:r>
              <a:rPr lang="en-US" altLang="en-US"/>
              <a:t>it is tedious to have to define all the umpteen different nested types (value_type, iterator_category, pointer, reference, etc.) for your user-defined iterators.</a:t>
            </a:r>
          </a:p>
          <a:p>
            <a:pPr lvl="1"/>
            <a:r>
              <a:rPr lang="en-US" altLang="en-US"/>
              <a:t>Instead, inherit them!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class iterator 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: public iterator&lt;forward_iterator_tag, T&gt; {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};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Protected Members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/>
              <a:t>To a first approximation, a protected member (function or data) is accessible by the class and any derived classes.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class B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protected: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int x;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};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class D : public B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int value(void) { return x;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};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2800"/>
              <a:t>Fields are often made protected (rather than private).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technical definition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  <a:tabLst>
                <a:tab pos="863600" algn="l"/>
              </a:tabLst>
            </a:pPr>
            <a:r>
              <a:rPr lang="en-US" altLang="en-US" sz="1800">
                <a:latin typeface="Courier New" panose="02070309020205020404" pitchFamily="49" charset="0"/>
              </a:rPr>
              <a:t>class B {</a:t>
            </a:r>
          </a:p>
          <a:p>
            <a:pPr>
              <a:lnSpc>
                <a:spcPct val="90000"/>
              </a:lnSpc>
              <a:buFontTx/>
              <a:buNone/>
              <a:tabLst>
                <a:tab pos="863600" algn="l"/>
              </a:tabLst>
            </a:pPr>
            <a:r>
              <a:rPr lang="en-US" altLang="en-US" sz="1800">
                <a:latin typeface="Courier New" panose="02070309020205020404" pitchFamily="49" charset="0"/>
              </a:rPr>
              <a:t>protected: int x;</a:t>
            </a:r>
          </a:p>
          <a:p>
            <a:pPr>
              <a:lnSpc>
                <a:spcPct val="90000"/>
              </a:lnSpc>
              <a:buFontTx/>
              <a:buNone/>
              <a:tabLst>
                <a:tab pos="863600" algn="l"/>
              </a:tabLst>
            </a:pPr>
            <a:r>
              <a:rPr lang="en-US" altLang="en-US" sz="1800">
                <a:latin typeface="Courier New" panose="02070309020205020404" pitchFamily="49" charset="0"/>
              </a:rPr>
              <a:t>void bFun(D&amp; d);</a:t>
            </a:r>
          </a:p>
          <a:p>
            <a:pPr>
              <a:lnSpc>
                <a:spcPct val="90000"/>
              </a:lnSpc>
              <a:buFontTx/>
              <a:buNone/>
              <a:tabLst>
                <a:tab pos="863600" algn="l"/>
              </a:tabLst>
            </a:pPr>
            <a:r>
              <a:rPr lang="en-US" altLang="en-US" sz="1800">
                <a:latin typeface="Courier New" panose="02070309020205020404" pitchFamily="49" charset="0"/>
              </a:rPr>
              <a:t>};</a:t>
            </a:r>
          </a:p>
          <a:p>
            <a:pPr>
              <a:lnSpc>
                <a:spcPct val="90000"/>
              </a:lnSpc>
              <a:buFontTx/>
              <a:buNone/>
              <a:tabLst>
                <a:tab pos="863600" algn="l"/>
              </a:tabLst>
            </a:pPr>
            <a:r>
              <a:rPr lang="en-US" altLang="en-US" sz="1800">
                <a:latin typeface="Courier New" panose="02070309020205020404" pitchFamily="49" charset="0"/>
              </a:rPr>
              <a:t>class D : public B {</a:t>
            </a:r>
          </a:p>
          <a:p>
            <a:pPr>
              <a:lnSpc>
                <a:spcPct val="90000"/>
              </a:lnSpc>
              <a:buFontTx/>
              <a:buNone/>
              <a:tabLst>
                <a:tab pos="863600" algn="l"/>
              </a:tabLst>
            </a:pPr>
            <a:r>
              <a:rPr lang="en-US" altLang="en-US" sz="1800">
                <a:latin typeface="Courier New" panose="02070309020205020404" pitchFamily="49" charset="0"/>
              </a:rPr>
              <a:t>void dFun(B&amp; b);</a:t>
            </a:r>
          </a:p>
          <a:p>
            <a:pPr>
              <a:lnSpc>
                <a:spcPct val="90000"/>
              </a:lnSpc>
              <a:buFontTx/>
              <a:buNone/>
              <a:tabLst>
                <a:tab pos="863600" algn="l"/>
              </a:tabLst>
            </a:pPr>
            <a:r>
              <a:rPr lang="en-US" altLang="en-US" sz="1800">
                <a:latin typeface="Courier New" panose="02070309020205020404" pitchFamily="49" charset="0"/>
              </a:rPr>
              <a:t>};</a:t>
            </a:r>
          </a:p>
          <a:p>
            <a:pPr>
              <a:lnSpc>
                <a:spcPct val="90000"/>
              </a:lnSpc>
              <a:tabLst>
                <a:tab pos="863600" algn="l"/>
              </a:tabLst>
            </a:pPr>
            <a:r>
              <a:rPr lang="en-US" altLang="en-US" sz="2400"/>
              <a:t>The variable used to access </a:t>
            </a:r>
            <a:r>
              <a:rPr lang="en-US" altLang="en-US" sz="2400" i="1"/>
              <a:t>x</a:t>
            </a:r>
            <a:r>
              <a:rPr lang="en-US" altLang="en-US" sz="2400"/>
              <a:t> must be a subtype of the method where the function is called.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863600" algn="l"/>
              </a:tabLst>
            </a:pPr>
            <a:r>
              <a:rPr lang="en-US" altLang="en-US" sz="1800">
                <a:latin typeface="Courier New" panose="02070309020205020404" pitchFamily="49" charset="0"/>
              </a:rPr>
              <a:t>B::bFun(D&amp; d)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863600" algn="l"/>
              </a:tabLst>
            </a:pPr>
            <a:r>
              <a:rPr lang="en-US" altLang="en-US" sz="1800">
                <a:latin typeface="Courier New" panose="02070309020205020404" pitchFamily="49" charset="0"/>
              </a:rPr>
              <a:t>  this-&gt;x = … ; // OK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863600" algn="l"/>
              </a:tabLst>
            </a:pPr>
            <a:r>
              <a:rPr lang="en-US" altLang="en-US" sz="1800">
                <a:latin typeface="Courier New" panose="02070309020205020404" pitchFamily="49" charset="0"/>
              </a:rPr>
              <a:t>  d.x = … ; // OK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863600" algn="l"/>
              </a:tabLst>
            </a:pPr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863600" algn="l"/>
              </a:tabLst>
            </a:pPr>
            <a:r>
              <a:rPr lang="en-US" altLang="en-US" sz="1800">
                <a:latin typeface="Courier New" panose="02070309020205020404" pitchFamily="49" charset="0"/>
              </a:rPr>
              <a:t>D::dFun(B&amp; b)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863600" algn="l"/>
              </a:tabLst>
            </a:pPr>
            <a:r>
              <a:rPr lang="en-US" altLang="en-US" sz="1800">
                <a:latin typeface="Courier New" panose="02070309020205020404" pitchFamily="49" charset="0"/>
              </a:rPr>
              <a:t>  this-&gt;x = … ; // OK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863600" algn="l"/>
              </a:tabLst>
            </a:pPr>
            <a:r>
              <a:rPr lang="en-US" altLang="en-US" sz="1800">
                <a:latin typeface="Courier New" panose="02070309020205020404" pitchFamily="49" charset="0"/>
              </a:rPr>
              <a:t>  b.x = … ; // ERROR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tabLst>
                <a:tab pos="863600" algn="l"/>
              </a:tabLst>
            </a:pPr>
            <a:r>
              <a:rPr lang="en-US" altLang="en-US" sz="1800">
                <a:latin typeface="Courier New" panose="02070309020205020404" pitchFamily="49" charset="0"/>
              </a:rPr>
              <a:t>}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Dynamic Binding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/>
              <a:t>Recall that the C++ inheritance mechanism creates a subtype relationship</a:t>
            </a:r>
          </a:p>
          <a:p>
            <a:pPr lvl="1"/>
            <a:r>
              <a:rPr lang="en-US" altLang="en-US" sz="2400"/>
              <a:t>Any object of the derived type can be passed to a function that expects a parameter of the base type.</a:t>
            </a:r>
          </a:p>
          <a:p>
            <a:r>
              <a:rPr lang="en-US" altLang="en-US" sz="2800"/>
              <a:t>Note that type checking is still static, and the function-call mechanism is still 100% compile time.</a:t>
            </a:r>
          </a:p>
          <a:p>
            <a:r>
              <a:rPr lang="en-US" altLang="en-US" sz="2800"/>
              <a:t>In C++ we use virtual functions to get run-time, type-specific behavior.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virtual function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/>
              <a:t>non-static member functions can be declared virtual.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any function with the same signature in derived classes must have the same return type.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when a virtual function is invoked through a pointer or reference to a base type object, the correct (inherited or overridden) function is executed on the derived object.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the determination of which function to invoke is made at run time.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virtual example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6482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class B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public: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//virtual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void doit(void) { cout &lt;&lt; "base\n";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};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class D : public B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public: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void doit(void) { cout &lt;&lt; "derived\n";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};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void foo(B&amp; b)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b.doit(); // if doit is virtual, prints derived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int main(void)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D d;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foo(d);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Style Suggestions with Virtual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the keyword virtual is only required in the base class.</a:t>
            </a:r>
          </a:p>
          <a:p>
            <a:pPr lvl="1"/>
            <a:r>
              <a:rPr lang="en-US" altLang="en-US"/>
              <a:t>use virtual in class definition for every derived class.</a:t>
            </a:r>
          </a:p>
          <a:p>
            <a:r>
              <a:rPr lang="en-US" altLang="en-US"/>
              <a:t>virtual-ness applies to the signature, not the name.</a:t>
            </a:r>
          </a:p>
          <a:p>
            <a:pPr lvl="1"/>
            <a:r>
              <a:rPr lang="en-US" altLang="en-US"/>
              <a:t>avoid confusion by not overloading virtual functions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Implementation of Virtual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The compiler produces machine code that calls the appropriate function using a pointer to the function.</a:t>
            </a:r>
          </a:p>
          <a:p>
            <a:r>
              <a:rPr lang="en-US" altLang="en-US"/>
              <a:t>The pointer is taken from a table.</a:t>
            </a:r>
          </a:p>
          <a:p>
            <a:pPr lvl="1"/>
            <a:r>
              <a:rPr lang="en-US" altLang="en-US"/>
              <a:t>each derived class has a distinct table.</a:t>
            </a:r>
          </a:p>
          <a:p>
            <a:r>
              <a:rPr lang="en-US" altLang="en-US"/>
              <a:t>Every object has a pointer to the correct table.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Implications of Implementation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/>
              <a:t>The size of the vf table is linear in the number of virtual functions.  (e.g. 4X bytes or 8X bytes where there are X virtual functions).</a:t>
            </a:r>
          </a:p>
          <a:p>
            <a:r>
              <a:rPr lang="en-US" altLang="en-US" sz="2800"/>
              <a:t>There is only one table per class.  There is one pointer (to a table) inside each object.  Thus the objects are made 4 bytes larger when there is a virtual function.</a:t>
            </a:r>
          </a:p>
          <a:p>
            <a:r>
              <a:rPr lang="en-US" altLang="en-US" sz="2800"/>
              <a:t>The virtual function table provides us the ability to determine the type of an object at runtime.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altLang="en-US"/>
              <a:t>Replacing Switch Statements with Virtual Functions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953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A switch statement is inconsistent with the principles of object-oriented programming.</a:t>
            </a:r>
          </a:p>
          <a:p>
            <a:pPr>
              <a:lnSpc>
                <a:spcPct val="90000"/>
              </a:lnSpc>
            </a:pPr>
            <a:r>
              <a:rPr lang="en-US" altLang="en-US"/>
              <a:t>Instead of: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switch(x-&gt;type)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case A: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a_operation(); break;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case B: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b_operation(); break;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/>
              <a:t>Create derived types A and B, and virtual function operation in base class (x is ptr to base class).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x-&gt;operation()</a:t>
            </a:r>
            <a:endParaRPr lang="en-US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Functions invoked using “this” get dynamic binding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/>
              <a:t>Functions inherited from the base class can call virtual functions from the derived class.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class B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public: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virtual const char* name(void){return "base";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void display_info()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  cout &lt;&lt; "this is the " &lt;&lt; name() &lt;&lt; " class\n";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};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class D : public B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public: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virtual const char* name(void) { return "derived";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};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00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Virtual Destructors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The “rule of thumb” for C++ is to make your destructor virtual if you have at least one virtual function.</a:t>
            </a:r>
          </a:p>
          <a:p>
            <a:pPr>
              <a:lnSpc>
                <a:spcPct val="90000"/>
              </a:lnSpc>
            </a:pPr>
            <a:r>
              <a:rPr lang="en-US" altLang="en-US"/>
              <a:t>Virtual destructors are important only if you use new/delete.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When you call delete the destructor is invoked.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If you delete a Base* pointer that points to a Derived object, we still want the derived destructor to be called.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 C++ Gotcha with Destructors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/>
              <a:t>Once upon a time I wrote a class that did not need a destructor.  I created a derived class that also did not need a destructor.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I created instances of the derived class using new, and used pointers of the base class to reference these objects.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I deleted the objects using the pointers I had but was surprised to discover a memory leak.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I fixed the memory leak by writing a virtual destructor in the parent class with an empty body “{}”.  The derived class still did not need a destructor.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Abstract Functions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/>
              <a:t>In object oriented design it is common to have a base type which is so general it is “abstract”.  i.e., you’d never really have an object that was just that type.  For example, Shape (you could have a Circle or a Triangle which might be subtypes of Shape).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It may not make sense or be possible to implement all of the functions in this abstract class.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A function is “pure virtual” if it has no implementation.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Pure Virtual Syntax and Semantics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/>
              <a:t>Syntax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class Shape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public: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virtual void draw(void) = 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};</a:t>
            </a:r>
          </a:p>
          <a:p>
            <a:pPr>
              <a:spcBef>
                <a:spcPct val="0"/>
              </a:spcBef>
            </a:pPr>
            <a:r>
              <a:rPr lang="en-US" altLang="en-US" sz="2800"/>
              <a:t>If any virtual function is pure virtual, then the class is abstract.  You cannot have a variable, or return value declared an abstract type.</a:t>
            </a:r>
          </a:p>
          <a:p>
            <a:pPr>
              <a:spcBef>
                <a:spcPct val="0"/>
              </a:spcBef>
            </a:pPr>
            <a:r>
              <a:rPr lang="en-US" altLang="en-US" sz="2800"/>
              <a:t>Any derived type must override the pure virtual function or else it too will be abstract.</a:t>
            </a:r>
          </a:p>
          <a:p>
            <a:pPr>
              <a:buFontTx/>
              <a:buNone/>
            </a:pPr>
            <a:endParaRPr lang="en-US" altLang="en-US" sz="160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When Should a Function be Abstract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 altLang="en-US"/>
              <a:t>Keep in mind the consequences: if any one function is abstract, then the class is abstract</a:t>
            </a:r>
          </a:p>
          <a:p>
            <a:pPr marL="609600" indent="-609600">
              <a:buFontTx/>
              <a:buAutoNum type="arabicPeriod"/>
            </a:pPr>
            <a:r>
              <a:rPr lang="en-US" altLang="en-US"/>
              <a:t>If there is no reasonable default implementation for the function, or</a:t>
            </a:r>
          </a:p>
          <a:p>
            <a:pPr marL="609600" indent="-609600">
              <a:buFontTx/>
              <a:buAutoNum type="arabicPeriod"/>
            </a:pPr>
            <a:r>
              <a:rPr lang="en-US" altLang="en-US"/>
              <a:t>if every subclass should be required to implement this function.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</TotalTime>
  <Words>2711</Words>
  <Application>Microsoft Office PowerPoint</Application>
  <PresentationFormat>On-screen Show (4:3)</PresentationFormat>
  <Paragraphs>283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Courier New</vt:lpstr>
      <vt:lpstr>Times New Roman</vt:lpstr>
      <vt:lpstr>Default Design</vt:lpstr>
      <vt:lpstr>Classes</vt:lpstr>
      <vt:lpstr>Structs (AKA records)</vt:lpstr>
      <vt:lpstr>Implementation of Structs</vt:lpstr>
      <vt:lpstr>Type Rules in C++</vt:lpstr>
      <vt:lpstr>Member Functions</vt:lpstr>
      <vt:lpstr>C++ and this</vt:lpstr>
      <vt:lpstr>Pop Quiz</vt:lpstr>
      <vt:lpstr>Inheritance</vt:lpstr>
      <vt:lpstr>Inheritance for Reuse</vt:lpstr>
      <vt:lpstr>Defining an Inheritance Relationship</vt:lpstr>
      <vt:lpstr>Restrictions and caveats on Inheritance</vt:lpstr>
      <vt:lpstr>Checked Vector Example</vt:lpstr>
      <vt:lpstr>Specifying Changes</vt:lpstr>
      <vt:lpstr>Implementing Inheritance</vt:lpstr>
      <vt:lpstr>Extending the Struct</vt:lpstr>
      <vt:lpstr>The Implied Subtype Relationship</vt:lpstr>
      <vt:lpstr>Truncating objects</vt:lpstr>
      <vt:lpstr>Multiple Inheritance (yuck)</vt:lpstr>
      <vt:lpstr>Ambiguities with Multiple Inheritance</vt:lpstr>
      <vt:lpstr>More Ambiguities and Virtual Inheritance</vt:lpstr>
      <vt:lpstr>Implementation Nightmares, Fudging this</vt:lpstr>
      <vt:lpstr>Implementation Pop Quiz</vt:lpstr>
      <vt:lpstr>Other Inheritance Stuff</vt:lpstr>
      <vt:lpstr>Putting Inheritance to good use</vt:lpstr>
      <vt:lpstr>Protected Members</vt:lpstr>
      <vt:lpstr>The technical definition</vt:lpstr>
      <vt:lpstr>Dynamic Binding</vt:lpstr>
      <vt:lpstr>The virtual function</vt:lpstr>
      <vt:lpstr>virtual example</vt:lpstr>
      <vt:lpstr>Style Suggestions with Virtual</vt:lpstr>
      <vt:lpstr>Implementation of Virtual</vt:lpstr>
      <vt:lpstr>Implications of Implementation</vt:lpstr>
      <vt:lpstr>Replacing Switch Statements with Virtual Functions</vt:lpstr>
      <vt:lpstr>Functions invoked using “this” get dynamic binding</vt:lpstr>
      <vt:lpstr>Virtual Destructors</vt:lpstr>
      <vt:lpstr>A C++ Gotcha with Destructors</vt:lpstr>
      <vt:lpstr>Abstract Functions</vt:lpstr>
      <vt:lpstr>Pure Virtual Syntax and Semantics</vt:lpstr>
      <vt:lpstr>When Should a Function be Abstract</vt:lpstr>
    </vt:vector>
  </TitlesOfParts>
  <Company>The University of Texas at 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Classes</dc:title>
  <dc:creator>Craig M. Chase</dc:creator>
  <cp:lastModifiedBy>Craig Chase</cp:lastModifiedBy>
  <cp:revision>68</cp:revision>
  <dcterms:created xsi:type="dcterms:W3CDTF">2000-09-28T15:48:38Z</dcterms:created>
  <dcterms:modified xsi:type="dcterms:W3CDTF">2016-02-11T16:17:03Z</dcterms:modified>
</cp:coreProperties>
</file>